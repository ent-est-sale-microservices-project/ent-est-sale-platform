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57150" y="0"/>
            <a:ext cx="4631801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3371" y="0"/>
            <a:ext cx="3657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Université Mohammed V — Rabat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École Supérieure de Technologie de Salé (EST Salé)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</a:rPr>
              <a:t>Filière : Ingénierie des Applications Web et Mobile  |  Module : DevOps et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ENT-EST-Salé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BEAFE"/>
                </a:solidFill>
              </a:rPr>
              <a:t>Plateforme Numérique de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BEAFE"/>
                </a:solidFill>
              </a:rPr>
              <a:t>Architecture Microservices · DevOps ·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0929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</a:rPr>
              <a:t>GROUPE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0929" y="822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Membre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929" y="1188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Membre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0929" y="1554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Membre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0929" y="1920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Membre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0929" y="2286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Membre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0929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</a:rPr>
              <a:t>ENCADRANT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0929" y="3291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929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Année universitaire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0929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Avril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9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4465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BEAFE"/>
                </a:solidFill>
              </a:rPr>
              <a:t>DevOps et Cloud  ·  EST Salé  ·  Université Mohammed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294D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371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7315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94D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78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Contexte et Objectifs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914400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914400"/>
            <a:ext cx="54864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987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078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Architecture Générale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914400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80" y="914400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987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078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Infrastructure Technique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55648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1755648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Microservices — Vue Détaillée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755648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1755648"/>
            <a:ext cx="54864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API Gateway &amp; Sécurité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1755648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80" y="1755648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Interface Utilisateur (Frontend)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96896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596896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27614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Observabilité &amp; 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596896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23360" y="2596896"/>
            <a:ext cx="54864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27614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Tests &amp; Déploiement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2596896"/>
            <a:ext cx="35661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6680" y="2596896"/>
            <a:ext cx="54864" cy="7315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94D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7614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Conclusion &amp; Perspectives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01  Contexte et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192024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94D"/>
                </a:solidFill>
              </a:rPr>
              <a:t>Contexte Académique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Projet de fin de module DevOps et Cloud — EST Salé (Université Mohammed V, Rabat).
Filière : Ingénierie des Applications Web et Mobile.
Groupe de 5 étudiants + encadrant.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45720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Les établissements d'enseignement supérieur manquent d'une plateforme numérique unifiée pour :
• Gestion des cours et contenus pédagogiques
• Devoirs, soumissions et notation
• Communication et forum académique
• Calendrier et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914400"/>
            <a:ext cx="60350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914400"/>
            <a:ext cx="4572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0058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Objectifs Techniques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4173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Architecture Microservices découplée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874519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Authentification OAuth2/OIDC (Keycloak + JWT)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3317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28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Persistance NoSQL avec Apache Cassandra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7889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Messagerie asynchrone RabbitMQ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2461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200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Stockage objet S3 avec MinIO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7033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657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Interface React moderne (shadcn/ui)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1605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114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Chat temps-réel WebSocket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6177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Observabilité Prometheus + Grafana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50749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Déploiement Docker Compose automatisé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5532120"/>
            <a:ext cx="18288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486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Smoke-tests fonctionnels complets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94D"/>
                </a:solidFill>
              </a:rPr>
              <a:t>02  Architecture Générale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1731752" cy="11155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73152" cy="1115568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51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94D"/>
                </a:solidFill>
              </a:rPr>
              <a:t>PRÉSENTATION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41732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React 18 + TypeScript + Vite  |  Tailwind CSS + shadcn/ui  | 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756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4151"/>
                </a:solidFill>
              </a:rPr>
              <a:t>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21991"/>
            <a:ext cx="11731752" cy="11155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21991"/>
            <a:ext cx="73152" cy="11155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231343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679191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ms-api-gateway (port 8008)  |  JWT Guard  |  CORS  |  Retry + Timeout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375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4151"/>
                </a:solidFill>
              </a:rPr>
              <a:t>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483863"/>
            <a:ext cx="11731752" cy="11155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483863"/>
            <a:ext cx="73152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357530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MICROSERVICES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3941063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auth-core · identity-admin · course-content · course-access · notification
calendar-schedule · forum-chat · exam-assignment · ai-assistant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994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4151"/>
                </a:solidFill>
              </a:rPr>
              <a:t>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45736"/>
            <a:ext cx="11731752" cy="11155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745736"/>
            <a:ext cx="73152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4837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5202936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Keycloak · Cassandra · RabbitMQ · MinIO · Redis · Mailpit · Prometheus · Grafana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94D"/>
                </a:solidFill>
              </a:rPr>
              <a:t>02  Schéma d'Architecture — Flux de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828800" cy="6400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🌐 Navigateur
React 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188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A56DB"/>
                </a:solidFill>
              </a:rPr>
              <a:t>HTTP/REST
+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6DB"/>
                </a:solidFill>
              </a:rPr>
              <a:t>──────►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914400"/>
            <a:ext cx="2011680" cy="822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9144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API Gateway
Port 8008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74151"/>
                </a:solidFill>
              </a:rPr>
              <a:t>validates JWT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56DB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286000"/>
            <a:ext cx="1737360" cy="594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2860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294D"/>
                </a:solidFill>
              </a:rPr>
              <a:t>ms-auth-core
(JWKS Keycloak)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74151"/>
                </a:solidFill>
              </a:rPr>
              <a:t>──── proxifie vers ────►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960120"/>
            <a:ext cx="1234440" cy="7315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9601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identity-admin
8013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960120"/>
            <a:ext cx="123444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9601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course-content
8011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3456" y="960120"/>
            <a:ext cx="123444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9601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course-access
8012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07624" y="960120"/>
            <a:ext cx="123444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07624" y="9601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notification
8014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828800"/>
            <a:ext cx="123444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8288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calendar
8015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9288" y="1828800"/>
            <a:ext cx="123444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9288" y="18288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forum-chat
8016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63456" y="1828800"/>
            <a:ext cx="123444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3456" y="18288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exam-assignment
8017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07624" y="1828800"/>
            <a:ext cx="123444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07624" y="182880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ai-assistant
8018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4151"/>
                </a:solidFill>
              </a:rPr>
              <a:t>INFRASTRUCTURE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63440"/>
            <a:ext cx="11731752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029200"/>
            <a:ext cx="1554480" cy="68580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Keycloak
:8080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5029200"/>
            <a:ext cx="1554480" cy="685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Cassandra
:9042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5029200"/>
            <a:ext cx="155448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RabbitMQ
:5672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5029200"/>
            <a:ext cx="155448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MinIO
:9002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5029200"/>
            <a:ext cx="155448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Redis
:6379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5029200"/>
            <a:ext cx="1554480" cy="685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Prometheus
:9090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5029200"/>
            <a:ext cx="155448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988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Grafana
:3001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</a:rPr>
              <a:t>Événements AMQP (asynchrone)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03  Infrastructure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4864" cy="16459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94760" cy="4114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784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Keycloak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IAM / OpenID Connect
Realm ent-est · JWKS RS256
Rôles : admin, teacher, student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91440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914400"/>
            <a:ext cx="37947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7" y="9784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4173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Backend relationnel
de Keycloak
Port 5432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91440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914400"/>
            <a:ext cx="379476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6" y="9784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Cassandra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8" y="14173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Base NoSQL large-colonne
Keyspace ent_est
11 tables applicatives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97480"/>
            <a:ext cx="54864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97480"/>
            <a:ext cx="37947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RabbitMQ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20040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Broker AMQP
Exchange topic ent.events.topic
Events versionnés (.v1)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269748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2697480"/>
            <a:ext cx="379476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1687" y="2761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320040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Stockage objet S3
3 buckets : courses, uploads, logs
Presigned URLs TTL 180s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8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8" y="269748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598" y="2697480"/>
            <a:ext cx="37947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6" y="2761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Redis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8" y="320040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Cache distribué
Rate limiting
Port 6379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480560"/>
            <a:ext cx="54864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4480560"/>
            <a:ext cx="37947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544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Mailpit v1.18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9834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SMTP sandbox dev
Capture emails sans envoi réel
UI port 8025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4480560"/>
            <a:ext cx="54864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4480560"/>
            <a:ext cx="37947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1687" y="4544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19" y="49834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Scrape /metrics 15s
9 services instrumentés
Port 9090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8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598" y="448056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598" y="4480560"/>
            <a:ext cx="37947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6" y="4544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58" y="49834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Dashboards temps-réel
Datasource auto-provisionnée
Port 3001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04  Microservices — Services Métier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54864" cy="16459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91440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60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94D"/>
                </a:solidFill>
              </a:rPr>
              <a:t>ms-auth-core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987552"/>
            <a:ext cx="640080" cy="292608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9875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3898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294D"/>
                </a:solidFill>
              </a:rPr>
              <a:t>Interne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916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Validation JWT via JWKS Keycloak
/auth/me → claims complètes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91440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3" y="91440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960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</a:rPr>
              <a:t>ms-identity-admin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39" y="987552"/>
            <a:ext cx="64008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39" y="9875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7" y="13898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56DB"/>
                </a:solidFill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7" y="16916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CRUD utilisateurs Keycloak + Cassandra
Publie user.created.v1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8" y="91440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598" y="91440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2" y="91440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6" y="960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ms-course-content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78" y="987552"/>
            <a:ext cx="64008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78" y="9875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6" y="13898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59669"/>
                </a:solidFill>
              </a:rPr>
              <a:t>teacher,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6" y="169164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Gestion cours + assets MinIO
Publie course.created.v1 + asset.uploaded.v1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697480"/>
            <a:ext cx="54864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" y="269748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ms-course-access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770632"/>
            <a:ext cx="64008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7706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59669"/>
                </a:solidFill>
              </a:rPr>
              <a:t>student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474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Lecture cours + presigned URLs
TTL 180s, délègue à course-content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59" y="2697480"/>
            <a:ext cx="54864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06823" y="269748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7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ms-notification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39" y="2770632"/>
            <a:ext cx="6400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39" y="27706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7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</a:rPr>
              <a:t>Consumer AMQP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1687" y="3474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RabbitMQ consumer + SMTP Mailpit
Stocke notifications en Cassandra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598" y="269748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598" y="2697480"/>
            <a:ext cx="54864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84462" y="269748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6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</a:rPr>
              <a:t>ms-calendar-schedule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98478" y="2770632"/>
            <a:ext cx="640080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98478" y="27706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6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56DB"/>
                </a:solidFill>
              </a:rPr>
              <a:t>teacher/admin (✍), tous (📖)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6" y="3474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CRUD événements calendrier
Filtres ?month + ?module_code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480560"/>
            <a:ext cx="54864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9184" y="448056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4526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ms-forum-chat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4553712"/>
            <a:ext cx="6400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5537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" y="4956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</a:rPr>
              <a:t>Tous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" y="5257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Forum REST + WebSocket chat
Salles par module_code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59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51959" y="4480560"/>
            <a:ext cx="54864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06823" y="448056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61687" y="4526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ms-exam-assignment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39" y="4553712"/>
            <a:ext cx="64008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39" y="45537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61687" y="4956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C2626"/>
                </a:solidFill>
              </a:rPr>
              <a:t>teacher/student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61687" y="5257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Devoirs, soumissions MinIO, notes
Publie assignment.created + grade.assigned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598" y="4480560"/>
            <a:ext cx="37947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598" y="4480560"/>
            <a:ext cx="54864" cy="16459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84462" y="4480560"/>
            <a:ext cx="3739896" cy="4572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39326" y="4526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94D"/>
                </a:solidFill>
              </a:rPr>
              <a:t>ms-ai-assistant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98478" y="4553712"/>
            <a:ext cx="640080" cy="292608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98478" y="45537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:8018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6" y="4956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294D"/>
                </a:solidFill>
              </a:rPr>
              <a:t>Tous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6" y="52578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Chat IA / Résumé / FAQ
Ollama Llama3, rate limit 20 req/min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05  API Gateway &amp;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577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53035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94D"/>
                </a:solidFill>
              </a:rPr>
              <a:t>Flux d'Authentification JWT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Frontend envoie Authorization: Bearer &lt;JWT&gt;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39112"/>
            <a:ext cx="292608" cy="2926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391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Gateway appelle GET /auth/me sur ms-auth-core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609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609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ms-auth-core valide signature via JWKS Keycloak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82696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826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826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Claims retournées : sub, username, realm_access.roles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04488"/>
            <a:ext cx="292608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044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0448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require_roles() vérifie les permissions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Si autorisé → proxy vers le microservice cible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48072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48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4807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Sinon → 401 Unauthorized ou 403 Forbidden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914400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914400"/>
            <a:ext cx="45720" cy="2377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</a:rPr>
              <a:t>RBAC — Rôles et Permissions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17320"/>
            <a:ext cx="914400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Tous les accès : utilisateurs, cours, calendrier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057400"/>
            <a:ext cx="91440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Création cours/devoirs, calendrier, forum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697480"/>
            <a:ext cx="91440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697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Lecture cours, soumissions, forum, calendrier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474720"/>
            <a:ext cx="5760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474720"/>
            <a:ext cx="4572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5661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Résilience &amp; Sécurité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Retry 2x sur GET avec backoff exponentiel (150ms→300ms)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325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Timeout configurable par service (défaut 8s)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67258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CORS strict : 3 origines autorisées seulement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02005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Réseau Docker interne (services non exposés)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36752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INTERNAL_API_TOKEN pour appels inter-services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715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• Variables sensibles dans .env.compose (non versionné)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06  Interface Utilisateur —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377440" cy="34747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914400"/>
            <a:ext cx="237744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914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914400"/>
            <a:ext cx="23774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914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914400"/>
            <a:ext cx="23774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914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371600"/>
            <a:ext cx="237744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shadcn/ui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37744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Router v6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237744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WebSocket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371600"/>
            <a:ext cx="2377440" cy="34747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965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94D"/>
                </a:solidFill>
              </a:rPr>
              <a:t>Pages de l'Application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31720"/>
            <a:ext cx="13716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514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14600"/>
            <a:ext cx="2286000" cy="4114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5694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017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Stats temps-réel, fil activité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2514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70048" y="2514600"/>
            <a:ext cx="22860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" y="25694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017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Gestion utilisateurs &amp; rôles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65776" y="2514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65776" y="2514600"/>
            <a:ext cx="228600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5694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017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Cours, assets, devoirs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61504" y="2514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2514600"/>
            <a:ext cx="228600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4656" y="25694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017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Cours, téléchargements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57232" y="2514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57232" y="2514600"/>
            <a:ext cx="22860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30384" y="25694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Calendar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0384" y="3017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Calendrier mensuel interactif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148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4114800"/>
            <a:ext cx="22860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4617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Discussions + Chat WebSocket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0048" y="41148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70048" y="4114800"/>
            <a:ext cx="22860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617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Devoirs, soumissions, notes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65776" y="41148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65776" y="4114800"/>
            <a:ext cx="22860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38928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38928" y="4617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Centre de notifications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61504" y="41148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61504" y="4114800"/>
            <a:ext cx="2286000" cy="411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4656" y="4617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Profil &amp; déconnexion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57232" y="41148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57232" y="4114800"/>
            <a:ext cx="2286000" cy="4114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30384" y="41696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30384" y="4617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Chat IA, résumé, FAQ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94D"/>
                </a:solidFill>
              </a:rPr>
              <a:t>04  Messagerie Asynchrone — RabbitMQ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0292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3657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Enveloppe Standard d'Événement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45720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{
  "event_id":       "&lt;uuid&gt;",
  "event_type":     "calendar.event.v1",
  "occurred_at":    "2026-04-24T10:00:00Z",
  "producer":       "ms-calendar-schedule",
  "correlation_id": "&lt;uuid&gt;",
  "payload":        { ... }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914400"/>
            <a:ext cx="6309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914400"/>
            <a:ext cx="45720" cy="5303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0058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Événements Publiés par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417320"/>
            <a:ext cx="274320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ms-identity-admin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94D"/>
                </a:solidFill>
              </a:rPr>
              <a:t>→ user.created.v1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011680"/>
            <a:ext cx="27432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ms-course-content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→ course.created.v1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2606040"/>
            <a:ext cx="274320" cy="274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ms-course-content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DB"/>
                </a:solidFill>
              </a:rPr>
              <a:t>→ asset.uploaded.v1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3200400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ms-calendar-schedule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200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→ calendar.event.created.v1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3794760"/>
            <a:ext cx="27432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ms-forum-chat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→ forum.thread.created.v1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4389120"/>
            <a:ext cx="2743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ms-exam-assignment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→ assignment.created.v1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4983480"/>
            <a:ext cx="27432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74151"/>
                </a:solidFill>
              </a:rPr>
              <a:t>ms-exam-assignment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→ grade.assigned.v1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Consommateur : ms-notification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Queue: q.notification.user  ·  Exchange: ent.events.topic  ·  Pattern: #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→ Email SMTP (Mailpit)  +  Stockage Cassandra (table notifications)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294D"/>
                </a:solidFill>
              </a:rPr>
              <a:t>07  Observabilité — Prometheus &amp; Grafana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5303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Prometheus — Scrape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74151"/>
                </a:solidFill>
              </a:rPr>
              <a:t>scrape_interval: 15s  |  evaluation_interval: 15s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ms-auth-core:8000/metrics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ms-api-gateway:8000/metrics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ms-identity-admin:8000/metrics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9544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ms-course-content:8000/metrics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85032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ms-course-access:8000/metrics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3308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ms-notification:8000/metrics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36008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6085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ms-calendar-schedule:8000/metrics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11496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84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ms-forum-chat:8000/metrics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86984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559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ms-exam-assignment:8000/metrics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914400"/>
            <a:ext cx="603504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914400"/>
            <a:ext cx="45720" cy="2468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10058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</a:rPr>
              <a:t>Métriques Collectées (runtime.py)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Compteur requêtes HTTP (méthode, route, status)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18928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Histogramme latence (p50, p95, p99)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368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Compteur erreurs par type d'exception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8437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Métriques système (CPU, mémoire)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566160"/>
            <a:ext cx="60350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566160"/>
            <a:ext cx="4572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36576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Grafana — Dashboards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0690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Port 3001, admin/ChangeMe_123!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5079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Datasource Prometheus auto-provisionnée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94690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Dashboard ENT Platform (ent-platform.json)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3858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Provisionnement via /etc/grafana/provisioning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8247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• Alertes configurables sur les métriques critiques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94D"/>
                </a:solidFill>
              </a:rPr>
              <a:t>08  Tests &amp;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13716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760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5303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Scripts de Smoke-Tests (scripts/)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compose-healthcheck.sh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Vérification tous les conteneurs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8424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956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rbac-smoke-test.sh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568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RBAC admin/teacher/student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5117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5237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course-content-smoke-test.sh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523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CRUD cours + upload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18104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090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course-access-smoke-test.sh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90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Listing + presigned URLs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8503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identity-admin-smoke-test.sh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Création user + rôles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calendar-smoke-test.sh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224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CRUD événements calendrier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1888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791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forum-smoke-test.sh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914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Forum + WebSocket 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8581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3583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exam-smoke-test.sh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35838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→ Devoirs + soumissions + notes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914400"/>
            <a:ext cx="56235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914400"/>
            <a:ext cx="45720" cy="2651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00584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</a:rPr>
              <a:t>Commandes de Déploiement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417320"/>
            <a:ext cx="530352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4630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# Démarrer tous les services
docker compose --env-file .env.compose \
  up -d --build
# Vérifier l'état
docker compose ps
# Logs en temps-réel
docker compose logs -f ms-api-gateway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749039"/>
            <a:ext cx="56235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3749039"/>
            <a:ext cx="45720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840479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Ordre de Démarrage Docker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51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1. postgres → keycloak → bootstrap scripts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553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2. cassandra → cassandra-init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554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3. minio → minio-init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572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4. rabbitmq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458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5. ms-auth-core (healthy) → microservices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760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6. microservices → ms-api-gateway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624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151"/>
                </a:solidFill>
              </a:rPr>
              <a:t>7. ms-api-gateway → frontend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94D"/>
                </a:solidFill>
              </a:rPr>
              <a:t>Patterns &amp; Conventions — Structure Uniforme des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22860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6576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5720" cy="53035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94D"/>
                </a:solidFill>
              </a:rPr>
              <a:t>Structure de chaque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29184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services/&lt;name&gt;/
  ├── app/
  │   ├── __init__.py
  │   ├── runtime.py  ← copie identique
  │   └── main.py     ← logique métier
  ├── requirements.txt
  └── Dockerfile
gateway/
  ├── app/
  │   ├── main.py     ← toutes les routes
  │   └── runtime.py
  └── Dockerfile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91440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914400"/>
            <a:ext cx="39319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914400"/>
            <a:ext cx="54864" cy="2468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9692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runtime.py Partagé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417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Logging structuré JSON + request_id
• Middleware Prometheus automatique
• GET /metrics exposition
• Gestionnaire exceptions 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91440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914400"/>
            <a:ext cx="39319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914400"/>
            <a:ext cx="54864" cy="2468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9692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Cassandra _ensure_db()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Init paresseuse au premier appel API
• CREATE KEYSPACE IF NOT EXISTS ent_est
• CREATE TABLE IF NOT EXISTS
• PlainTextAuthProvider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520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3520440"/>
            <a:ext cx="39319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520440"/>
            <a:ext cx="54864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4528" y="35753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RabbitMQ Event 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0233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event_id, event_type, occurred_at
• producer, correlation_id, payload
• Versionnement .v1
• Exchange topic durable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520440"/>
            <a:ext cx="393192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520440"/>
            <a:ext cx="39319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520440"/>
            <a:ext cx="54864" cy="2468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5753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233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GET /auth/me avec Bearer token
• Check realm_access.roles
• require_roles() comme FastAPI Depends
• JWT propagé vers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ENT-EST-Salé  ·  EST Salé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2818" y="0"/>
            <a:ext cx="4266133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9039" y="0"/>
            <a:ext cx="3657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56DB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
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27432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BEAFE"/>
                </a:solidFill>
              </a:rPr>
              <a:t>Réalisations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44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10 microservices Python FastAPI entièrement opérationnels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19272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Sécurité OAuth2/OIDC avec Keycloak + RBAC 3 rôles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66744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39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Persistance NoSQL Apache Cassandra (11 tables)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14216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867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Messagerie asynchrone RabbitMQ (7 types d'événements)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61688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342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Stockage objet MinIO S3 (3 buckets, presigned URLs)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817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Frontend React 18 + shadcn/ui (11 pages rôle-adaptatives)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56632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Chat temps-réel WebSocket par salle de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04104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3766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Observabilité Prometheus + Grafana (9 services)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51576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724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8 scripts de smoke-test couvrant tous les flux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99048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0716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Déploiement one-command Docker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6597" y="457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Perspectives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6597" y="914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Migration 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6597" y="1417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(Helm charts préparés)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597" y="19202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CI/CD GitHub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6597" y="2423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Dashboards Grafana avancés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6597" y="29260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App mobile React 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6597" y="34290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Cassandra multi-nœuds 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597" y="39319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→ Assistant IA en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43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DBEAFE"/>
                </a:solidFill>
              </a:rPr>
              <a:t>Merci pour votre attention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ENT-EST-Salé  ·  DevOps et Cloud  ·  EST Salé — Université Mohammed V  · 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